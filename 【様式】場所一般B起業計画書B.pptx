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7" r:id="rId5"/>
  </p:sldMasterIdLst>
  <p:notesMasterIdLst>
    <p:notesMasterId r:id="rId7"/>
  </p:notesMasterIdLst>
  <p:sldIdLst>
    <p:sldId id="214684829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F7F7F"/>
    <a:srgbClr val="FF6600"/>
    <a:srgbClr val="FAE7E7"/>
    <a:srgbClr val="F5CBCC"/>
    <a:srgbClr val="E7E7E7"/>
    <a:srgbClr val="CBCBCB"/>
    <a:srgbClr val="EFF5D7"/>
    <a:srgbClr val="FFCCCC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806" autoAdjust="0"/>
  </p:normalViewPr>
  <p:slideViewPr>
    <p:cSldViewPr showGuides="1">
      <p:cViewPr varScale="1">
        <p:scale>
          <a:sx n="170" d="100"/>
          <a:sy n="170" d="100"/>
        </p:scale>
        <p:origin x="4026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C55D2-3B2D-4AE8-BD92-EF45D46A3A07}" type="datetimeFigureOut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EE2B3-992F-40DF-88CE-3DE91024B8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95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CC711-7623-4EB1-BF59-F12811CAF0F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88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tle Background" descr="J01.png">
            <a:extLst>
              <a:ext uri="{FF2B5EF4-FFF2-40B4-BE49-F238E27FC236}">
                <a16:creationId xmlns:a16="http://schemas.microsoft.com/office/drawing/2014/main" id="{CB4623B4-60F5-4148-A0B8-E8876F3E7B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Copyright">
            <a:extLst>
              <a:ext uri="{FF2B5EF4-FFF2-40B4-BE49-F238E27FC236}">
                <a16:creationId xmlns:a16="http://schemas.microsoft.com/office/drawing/2014/main" id="{C5029077-459A-4F97-9BA4-21A031402F73}"/>
              </a:ext>
            </a:extLst>
          </p:cNvPr>
          <p:cNvSpPr txBox="1">
            <a:spLocks/>
          </p:cNvSpPr>
          <p:nvPr userDrawn="1"/>
        </p:nvSpPr>
        <p:spPr>
          <a:xfrm>
            <a:off x="7687570" y="6687751"/>
            <a:ext cx="1214435" cy="138499"/>
          </a:xfrm>
          <a:prstGeom prst="rect">
            <a:avLst/>
          </a:prstGeom>
        </p:spPr>
        <p:txBody>
          <a:bodyPr vert="horz" wrap="none" lIns="91440" tIns="45720" rIns="0" bIns="0" rtlCol="0" anchor="b" anchorCtr="0">
            <a:spAutoFit/>
          </a:bodyPr>
          <a:lstStyle>
            <a:defPPr>
              <a:defRPr lang="ja-JP"/>
            </a:defPPr>
            <a:lvl1pPr marL="0" algn="r" defTabSz="914400" rtl="0" eaLnBrk="1" fontAlgn="b" latinLnBrk="0" hangingPunct="1">
              <a:defRPr kumimoji="1" sz="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solidFill>
                  <a:prstClr val="black"/>
                </a:solidFill>
                <a:latin typeface="+mn-lt"/>
              </a:rPr>
              <a:t>© Mitsubishi Electric Corporation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1844675"/>
            <a:ext cx="7200900" cy="2016124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005064"/>
            <a:ext cx="7200900" cy="20877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DB3C-F4C7-469B-A1A8-6FF63B6F8468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422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018-B512-4DE8-ADBA-BACF9EE1CA0E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7611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268414"/>
            <a:ext cx="7200900" cy="230505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789363"/>
            <a:ext cx="7200900" cy="180022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D52-3189-4F2C-96FD-4B3DDD073F49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341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 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908050"/>
            <a:ext cx="4176713" cy="53292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463" y="908050"/>
            <a:ext cx="4176711" cy="5329238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783B0-D1C8-4EC8-BE84-519A2DFA3520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982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89" userDrawn="1">
          <p15:clr>
            <a:srgbClr val="FBAE40"/>
          </p15:clr>
        </p15:guide>
        <p15:guide id="2" pos="29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EE2DD-7224-4954-B78B-E4D950B549B8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50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2C00-F72A-42B1-81B5-0C71A92F2357}" type="datetime1">
              <a:rPr kumimoji="1" lang="ja-JP" altLang="en-US" smtClean="0"/>
              <a:t>2025/10/22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DC12-2148-4A7F-924A-4883C590EA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7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 Logo" descr="\\File-srv1\共有2\第2営業局\0-表示標準各種（マニュアルとロゴ）\三菱電機表示標準\三菱電機ロゴ【海外用一式】ai-eps-jpg\海外 コーポレートロゴ＋CFB カラー.emf">
            <a:extLst>
              <a:ext uri="{FF2B5EF4-FFF2-40B4-BE49-F238E27FC236}">
                <a16:creationId xmlns:a16="http://schemas.microsoft.com/office/drawing/2014/main" id="{E333C30F-55DF-4D6C-B2FD-95339C1883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188" y="1720989"/>
            <a:ext cx="6745625" cy="293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6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se Background" descr="J05.png">
            <a:extLst>
              <a:ext uri="{FF2B5EF4-FFF2-40B4-BE49-F238E27FC236}">
                <a16:creationId xmlns:a16="http://schemas.microsoft.com/office/drawing/2014/main" id="{F697B338-7B22-47D0-BA9C-83570537B1C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Copyright">
            <a:extLst>
              <a:ext uri="{FF2B5EF4-FFF2-40B4-BE49-F238E27FC236}">
                <a16:creationId xmlns:a16="http://schemas.microsoft.com/office/drawing/2014/main" id="{BBEC84B9-5E68-4111-AFC3-1B8292CCB332}"/>
              </a:ext>
            </a:extLst>
          </p:cNvPr>
          <p:cNvSpPr txBox="1">
            <a:spLocks/>
          </p:cNvSpPr>
          <p:nvPr userDrawn="1"/>
        </p:nvSpPr>
        <p:spPr>
          <a:xfrm>
            <a:off x="7687570" y="6687751"/>
            <a:ext cx="1214435" cy="138499"/>
          </a:xfrm>
          <a:prstGeom prst="rect">
            <a:avLst/>
          </a:prstGeom>
        </p:spPr>
        <p:txBody>
          <a:bodyPr vert="horz" wrap="none" lIns="91440" tIns="45720" rIns="0" bIns="0" rtlCol="0" anchor="b" anchorCtr="0">
            <a:spAutoFit/>
          </a:bodyPr>
          <a:lstStyle>
            <a:defPPr>
              <a:defRPr lang="ja-JP"/>
            </a:defPPr>
            <a:lvl1pPr marL="0" algn="r" defTabSz="914400" rtl="0" eaLnBrk="1" fontAlgn="b" latinLnBrk="0" hangingPunct="1">
              <a:defRPr kumimoji="1" sz="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solidFill>
                  <a:prstClr val="black"/>
                </a:solidFill>
                <a:latin typeface="+mn-lt"/>
              </a:rPr>
              <a:t>© Mitsubishi Electric Corporation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47813" y="115888"/>
            <a:ext cx="7354191" cy="5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908051"/>
            <a:ext cx="8642350" cy="5329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0825" y="6321600"/>
            <a:ext cx="2881014" cy="1656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900">
                <a:solidFill>
                  <a:srgbClr val="666666"/>
                </a:solidFill>
              </a:defRPr>
            </a:lvl1pPr>
          </a:lstStyle>
          <a:p>
            <a:fld id="{38653BFF-23DA-45F2-B8F8-679773F027B0}" type="datetime1">
              <a:rPr lang="ja-JP" altLang="en-US" smtClean="0"/>
              <a:t>2025/10/22</a:t>
            </a:fld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000" y="6494400"/>
            <a:ext cx="2881014" cy="1656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ctr">
              <a:defRPr sz="900">
                <a:solidFill>
                  <a:srgbClr val="666666"/>
                </a:solidFill>
              </a:defRPr>
            </a:lvl1pPr>
          </a:lstStyle>
          <a:p>
            <a:pPr algn="l"/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12161" y="6308725"/>
            <a:ext cx="2881014" cy="4349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>
                <a:solidFill>
                  <a:srgbClr val="666666"/>
                </a:solidFill>
              </a:defRPr>
            </a:lvl1pPr>
          </a:lstStyle>
          <a:p>
            <a:fld id="{8CB7DC12-2148-4A7F-924A-4883C590EAC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680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3" r:id="rId5"/>
    <p:sldLayoutId id="2147483664" r:id="rId6"/>
    <p:sldLayoutId id="2147483656" r:id="rId7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kumimoji="1"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1" userDrawn="1">
          <p15:clr>
            <a:srgbClr val="F26B43"/>
          </p15:clr>
        </p15:guide>
        <p15:guide id="2" pos="158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03510E-1063-2303-CC4F-91113F20C591}"/>
              </a:ext>
            </a:extLst>
          </p:cNvPr>
          <p:cNvSpPr txBox="1"/>
          <p:nvPr/>
        </p:nvSpPr>
        <p:spPr>
          <a:xfrm>
            <a:off x="6300192" y="110056"/>
            <a:ext cx="1518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実施部門：製企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要求元 　：情シ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81BFA9-21FF-0FDE-BCFB-67A3F1EBF603}"/>
              </a:ext>
            </a:extLst>
          </p:cNvPr>
          <p:cNvSpPr/>
          <p:nvPr/>
        </p:nvSpPr>
        <p:spPr>
          <a:xfrm>
            <a:off x="1536543" y="143911"/>
            <a:ext cx="4680520" cy="794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25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年度場所一般起業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(B)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実行計画書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95000"/>
              </a:lnSpc>
            </a:pPr>
            <a:r>
              <a:rPr lang="ja-JP" altLang="en-US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件名：</a:t>
            </a:r>
            <a:r>
              <a:rPr lang="en-US" altLang="ja-JP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工場</a:t>
            </a:r>
            <a:r>
              <a:rPr lang="en-US" altLang="ja-JP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階総務事務所無線</a:t>
            </a:r>
            <a:r>
              <a:rPr lang="en-US" altLang="ja-JP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LAN</a:t>
            </a:r>
            <a:r>
              <a:rPr lang="ja-JP" altLang="en-US" sz="16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工事</a:t>
            </a:r>
          </a:p>
          <a:p>
            <a:pPr>
              <a:lnSpc>
                <a:spcPct val="95000"/>
              </a:lnSpc>
            </a:pP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DE5BEF7-10D5-46AB-63FD-6EA72D926377}"/>
              </a:ext>
            </a:extLst>
          </p:cNvPr>
          <p:cNvSpPr/>
          <p:nvPr/>
        </p:nvSpPr>
        <p:spPr>
          <a:xfrm>
            <a:off x="8075335" y="134742"/>
            <a:ext cx="851445" cy="216768"/>
          </a:xfrm>
          <a:prstGeom prst="rect">
            <a:avLst/>
          </a:prstGeom>
          <a:noFill/>
          <a:ln w="28575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社外秘</a:t>
            </a:r>
            <a:endParaRPr kumimoji="1" lang="ja-JP" altLang="en-US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F9958BF-2A65-17ED-47F5-F8BB6381E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528419"/>
              </p:ext>
            </p:extLst>
          </p:nvPr>
        </p:nvGraphicFramePr>
        <p:xfrm>
          <a:off x="242468" y="809260"/>
          <a:ext cx="8675767" cy="938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1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80582">
                  <a:extLst>
                    <a:ext uri="{9D8B030D-6E8A-4147-A177-3AD203B41FA5}">
                      <a16:colId xmlns:a16="http://schemas.microsoft.com/office/drawing/2014/main" val="1535308676"/>
                    </a:ext>
                  </a:extLst>
                </a:gridCol>
                <a:gridCol w="433792">
                  <a:extLst>
                    <a:ext uri="{9D8B030D-6E8A-4147-A177-3AD203B41FA5}">
                      <a16:colId xmlns:a16="http://schemas.microsoft.com/office/drawing/2014/main" val="1138779357"/>
                    </a:ext>
                  </a:extLst>
                </a:gridCol>
              </a:tblGrid>
              <a:tr h="23157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計画区分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予算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千円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1000" b="0" i="0" u="none" strike="noStrike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</a:endParaRP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支出区分</a:t>
                      </a:r>
                      <a:r>
                        <a:rPr lang="en-US" altLang="zh-CN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千</a:t>
                      </a: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円</a:t>
                      </a:r>
                      <a:r>
                        <a:rPr lang="en-US" altLang="zh-CN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zh-CN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</a:t>
                      </a:r>
                      <a:r>
                        <a:rPr lang="zh-TW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外支出時期</a:t>
                      </a:r>
                      <a:endParaRPr lang="zh-TW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工 期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zh-TW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稼働開始</a:t>
                      </a:r>
                      <a:endParaRPr lang="en-US" altLang="zh-TW" sz="800" b="1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 fontAlgn="b"/>
                      <a:r>
                        <a:rPr lang="zh-TW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時期</a:t>
                      </a:r>
                      <a:endParaRPr lang="zh-TW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目的区分</a:t>
                      </a:r>
                      <a:endParaRPr lang="zh-TW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整備</a:t>
                      </a:r>
                      <a:endParaRPr lang="en-US" altLang="ja-JP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 fontAlgn="b"/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工事</a:t>
                      </a:r>
                      <a:endParaRPr lang="zh-TW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1000" b="0" i="0" u="none" strike="noStrike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</a:endParaRPr>
                    </a:p>
                  </a:txBody>
                  <a:tcPr marL="9525" marR="9525" marT="9525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合計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内起業費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内経費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</a:t>
                      </a:r>
                      <a:r>
                        <a:rPr lang="zh-CN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内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社外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25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年度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26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年度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000"/>
                        </a:lnSpc>
                      </a:pP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着工</a:t>
                      </a:r>
                      <a:endParaRPr lang="en-US" altLang="ja-JP" sz="800" b="1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 fontAlgn="b">
                        <a:lnSpc>
                          <a:spcPts val="1000"/>
                        </a:lnSpc>
                      </a:pP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月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000"/>
                        </a:lnSpc>
                      </a:pP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完了</a:t>
                      </a:r>
                      <a:endParaRPr lang="en-US" altLang="ja-JP" sz="800" b="1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ctr" fontAlgn="b">
                        <a:lnSpc>
                          <a:spcPts val="1000"/>
                        </a:lnSpc>
                      </a:pP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年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月</a:t>
                      </a:r>
                      <a:r>
                        <a:rPr lang="en-US" altLang="ja-JP" sz="800" b="1" u="none" strike="noStrike" dirty="0">
                          <a:solidFill>
                            <a:schemeClr val="bg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693"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基本計画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kumimoji="1" lang="ja-JP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Z UDPゴシック" panose="020B0400000000000000" pitchFamily="50" charset="-128"/>
                        <a:ea typeface="BIZ UDPゴシック" panose="020B0400000000000000" pitchFamily="50" charset="-128"/>
                        <a:cs typeface="+mn-cs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その他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■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579"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実行計画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327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327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327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327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ー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２５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１０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２５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１０</a:t>
                      </a: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900"/>
                        </a:lnSpc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9525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63CC9B39-94F6-2740-7DE1-5FCCB81C0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138133"/>
              </p:ext>
            </p:extLst>
          </p:nvPr>
        </p:nvGraphicFramePr>
        <p:xfrm>
          <a:off x="234583" y="1772816"/>
          <a:ext cx="8683653" cy="4956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795">
                  <a:extLst>
                    <a:ext uri="{9D8B030D-6E8A-4147-A177-3AD203B41FA5}">
                      <a16:colId xmlns:a16="http://schemas.microsoft.com/office/drawing/2014/main" val="3038143806"/>
                    </a:ext>
                  </a:extLst>
                </a:gridCol>
                <a:gridCol w="3113606">
                  <a:extLst>
                    <a:ext uri="{9D8B030D-6E8A-4147-A177-3AD203B41FA5}">
                      <a16:colId xmlns:a16="http://schemas.microsoft.com/office/drawing/2014/main" val="461418624"/>
                    </a:ext>
                  </a:extLst>
                </a:gridCol>
                <a:gridCol w="4490252">
                  <a:extLst>
                    <a:ext uri="{9D8B030D-6E8A-4147-A177-3AD203B41FA5}">
                      <a16:colId xmlns:a16="http://schemas.microsoft.com/office/drawing/2014/main" val="1987663768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必要理由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投資概要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769949"/>
                  </a:ext>
                </a:extLst>
              </a:tr>
              <a:tr h="182040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総務事務所エリアのリレイアウトに伴い、鎌電無線</a:t>
                      </a:r>
                      <a:r>
                        <a:rPr kumimoji="1" lang="en-US" altLang="ja-JP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LAN</a:t>
                      </a:r>
                      <a:r>
                        <a:rPr kumimoji="1" lang="ja-JP" altLang="en-US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の構築が必要なため。</a:t>
                      </a:r>
                    </a:p>
                    <a:p>
                      <a:endParaRPr kumimoji="1" lang="ja-JP" altLang="en-US" sz="11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kumimoji="1" lang="ja-JP" altLang="en-US" sz="11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43680"/>
                  </a:ext>
                </a:extLst>
              </a:tr>
              <a:tr h="163424">
                <a:tc gridSpan="2"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投資効果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23372"/>
                  </a:ext>
                </a:extLst>
              </a:tr>
              <a:tr h="11483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事務所エリアで鎌電無線</a:t>
                      </a:r>
                      <a:r>
                        <a:rPr kumimoji="1" lang="en-US" altLang="ja-JP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LAN</a:t>
                      </a:r>
                      <a:r>
                        <a:rPr kumimoji="1" lang="ja-JP" altLang="en-US" sz="11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を利用でき、円滑な業務遂行が可能になる。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06938"/>
                  </a:ext>
                </a:extLst>
              </a:tr>
              <a:tr h="216024">
                <a:tc gridSpan="2"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スケジュール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0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予算内訳　／　発注先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713779"/>
                  </a:ext>
                </a:extLst>
              </a:tr>
              <a:tr h="692264">
                <a:tc gridSpan="2">
                  <a:txBody>
                    <a:bodyPr/>
                    <a:lstStyle/>
                    <a:p>
                      <a:r>
                        <a:rPr kumimoji="1" lang="en-US" altLang="ja-JP" sz="1100" b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25/10/30</a:t>
                      </a:r>
                      <a:endParaRPr kumimoji="1" lang="ja-JP" altLang="en-US" sz="11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1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215520"/>
                  </a:ext>
                </a:extLst>
              </a:tr>
              <a:tr h="189064"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業者選定理由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1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607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金額妥当性</a:t>
                      </a:r>
                    </a:p>
                  </a:txBody>
                  <a:tcPr>
                    <a:solidFill>
                      <a:srgbClr val="7F7F7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kumimoji="1" lang="ja-JP" altLang="en-US" sz="11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37446"/>
                  </a:ext>
                </a:extLst>
              </a:tr>
            </a:tbl>
          </a:graphicData>
        </a:graphic>
      </p:graphicFrame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5AA89453-28A9-75C9-D257-A6AF3466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176" y="6352841"/>
            <a:ext cx="504056" cy="434975"/>
          </a:xfrm>
        </p:spPr>
        <p:txBody>
          <a:bodyPr/>
          <a:lstStyle/>
          <a:p>
            <a:fld id="{8CB7DC12-2148-4A7F-924A-4883C590EAC3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483696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A">
  <a:themeElements>
    <a:clrScheme name="Template B Colors">
      <a:dk1>
        <a:srgbClr val="000000"/>
      </a:dk1>
      <a:lt1>
        <a:srgbClr val="FFFFFF"/>
      </a:lt1>
      <a:dk2>
        <a:srgbClr val="666666"/>
      </a:dk2>
      <a:lt2>
        <a:srgbClr val="E1E1E1"/>
      </a:lt2>
      <a:accent1>
        <a:srgbClr val="E60012"/>
      </a:accent1>
      <a:accent2>
        <a:srgbClr val="FCDECA"/>
      </a:accent2>
      <a:accent3>
        <a:srgbClr val="B1D9B7"/>
      </a:accent3>
      <a:accent4>
        <a:srgbClr val="B8E5E6"/>
      </a:accent4>
      <a:accent5>
        <a:srgbClr val="B9E1FF"/>
      </a:accent5>
      <a:accent6>
        <a:srgbClr val="FAC8DA"/>
      </a:accent6>
      <a:hlink>
        <a:srgbClr val="E60012"/>
      </a:hlink>
      <a:folHlink>
        <a:srgbClr val="FF6B74"/>
      </a:folHlink>
    </a:clrScheme>
    <a:fontScheme name="Segoe UI - 游ゴシック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dk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buFont typeface="+mj-lt"/>
          <a:buAutoNum type="arabicPeriod"/>
          <a:defRPr sz="1400" i="0" dirty="0">
            <a:solidFill>
              <a:srgbClr val="373A3C"/>
            </a:solidFill>
            <a:effectLst/>
            <a:latin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9642F4EA69F7448475060BC3C3A204" ma:contentTypeVersion="15" ma:contentTypeDescription="新しいドキュメントを作成します。" ma:contentTypeScope="" ma:versionID="79ad50e8a4fff8f5a23021b39aa86969">
  <xsd:schema xmlns:xsd="http://www.w3.org/2001/XMLSchema" xmlns:xs="http://www.w3.org/2001/XMLSchema" xmlns:p="http://schemas.microsoft.com/office/2006/metadata/properties" xmlns:ns2="6b898ef9-200b-4cbd-91ed-8f287b583720" xmlns:ns3="ec0b7b7d-4189-4cd9-9a56-aa4ef3af6f28" targetNamespace="http://schemas.microsoft.com/office/2006/metadata/properties" ma:root="true" ma:fieldsID="0d926e7a7db32e03563684a356b1dfaa" ns2:_="" ns3:_="">
    <xsd:import namespace="6b898ef9-200b-4cbd-91ed-8f287b583720"/>
    <xsd:import namespace="ec0b7b7d-4189-4cd9-9a56-aa4ef3af6f2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898ef9-200b-4cbd-91ed-8f287b58372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ドキュメント ID 値" ma:description="このアイテムに割り当てられているドキュメント ID の値です。" ma:internalName="_dlc_DocId" ma:readOnly="true">
      <xsd:simpleType>
        <xsd:restriction base="dms:Text"/>
      </xsd:simpleType>
    </xsd:element>
    <xsd:element name="_dlc_DocIdUrl" ma:index="9" nillable="true" ma:displayName="ドキュメントID:" ma:description="このドキュメントへの常時接続リンクです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 を保持" ma:description="追加時に ID を保持します。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08f84082-d6db-4dea-bb3e-46ae6eb014af}" ma:internalName="TaxCatchAll" ma:showField="CatchAllData" ma:web="6b898ef9-200b-4cbd-91ed-8f287b5837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b7b7d-4189-4cd9-9a56-aa4ef3af6f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画像タグ" ma:readOnly="false" ma:fieldId="{5cf76f15-5ced-4ddc-b409-7134ff3c332f}" ma:taxonomyMulti="true" ma:sspId="9e8076fe-bb0c-488f-ac76-058e9f0b25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b898ef9-200b-4cbd-91ed-8f287b583720">UPFM5CHCPHQT-31127688-1020</_dlc_DocId>
    <_dlc_DocIdUrl xmlns="6b898ef9-200b-4cbd-91ed-8f287b583720">
      <Url>https://mitsubishielectricgroup.sharepoint.com/sites/001170/boueizouwg/_layouts/15/DocIdRedir.aspx?ID=UPFM5CHCPHQT-31127688-1020</Url>
      <Description>UPFM5CHCPHQT-31127688-1020</Description>
    </_dlc_DocIdUrl>
    <lcf76f155ced4ddcb4097134ff3c332f xmlns="ec0b7b7d-4189-4cd9-9a56-aa4ef3af6f28">
      <Terms xmlns="http://schemas.microsoft.com/office/infopath/2007/PartnerControls"/>
    </lcf76f155ced4ddcb4097134ff3c332f>
    <TaxCatchAll xmlns="6b898ef9-200b-4cbd-91ed-8f287b583720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31C928-597B-445E-883F-1B08855F1FE0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3AA450C-3621-4CF2-AC57-E8BB43BF1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898ef9-200b-4cbd-91ed-8f287b583720"/>
    <ds:schemaRef ds:uri="ec0b7b7d-4189-4cd9-9a56-aa4ef3af6f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2D6A6E-AA36-4930-AD2C-2AB3B5123056}">
  <ds:schemaRefs>
    <ds:schemaRef ds:uri="6b898ef9-200b-4cbd-91ed-8f287b583720"/>
    <ds:schemaRef ds:uri="http://schemas.microsoft.com/office/2006/metadata/properties"/>
    <ds:schemaRef ds:uri="http://purl.org/dc/dcmitype/"/>
    <ds:schemaRef ds:uri="ec0b7b7d-4189-4cd9-9a56-aa4ef3af6f28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04653BDC-F9E2-4468-8D74-C439C20DF5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</Words>
  <Application>Microsoft Office PowerPoint</Application>
  <PresentationFormat>画面に合わせる (4:3)</PresentationFormat>
  <Paragraphs>61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BIZ UDPゴシック</vt:lpstr>
      <vt:lpstr>游ゴシック</vt:lpstr>
      <vt:lpstr>Arial</vt:lpstr>
      <vt:lpstr>Segoe UI</vt:lpstr>
      <vt:lpstr>Template A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三菱電機PPTテンプレートA 4:3画面(国内用)</dc:title>
  <dc:creator/>
  <cp:lastModifiedBy/>
  <cp:revision>1</cp:revision>
  <dcterms:created xsi:type="dcterms:W3CDTF">2021-12-22T06:38:57Z</dcterms:created>
  <dcterms:modified xsi:type="dcterms:W3CDTF">2025-10-22T07:46:16Z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0x010100799642F4EA69F7448475060BC3C3A204</vt:lpwstr>
  </property>
  <property fmtid="{D5CDD505-2E9C-101B-9397-08002B2CF9AE}" pid="3" name="_dlc_DocIdItemGuid">
    <vt:lpwstr>bf935c06-1a71-4ae8-a7c1-74249f9fb802</vt:lpwstr>
  </property>
  <property fmtid="{D5CDD505-2E9C-101B-9397-08002B2CF9AE}" pid="4" name="MediaServiceImageTags">
    <vt:lpwstr/>
  </property>
</Properties>
</file>